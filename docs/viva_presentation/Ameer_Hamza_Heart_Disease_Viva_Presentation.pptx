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Class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 disease (0)</c:v>
                </c:pt>
                <c:pt idx="1">
                  <c:v>Disease present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499</c:v>
                </c:pt>
                <c:pt idx="1">
                  <c:v>526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Accuracy and F1-score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LogReg</c:v>
                </c:pt>
                <c:pt idx="1">
                  <c:v>Adaptive LR</c:v>
                </c:pt>
                <c:pt idx="2">
                  <c:v>Adaptive RF</c:v>
                </c:pt>
                <c:pt idx="3">
                  <c:v>HGB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0.8732</c:v>
                </c:pt>
                <c:pt idx="1">
                  <c:v>0.8263</c:v>
                </c:pt>
                <c:pt idx="2">
                  <c:v>0.8673</c:v>
                </c:pt>
                <c:pt idx="3">
                  <c:v>0.9805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LogReg</c:v>
                </c:pt>
                <c:pt idx="1">
                  <c:v>Adaptive LR</c:v>
                </c:pt>
                <c:pt idx="2">
                  <c:v>Adaptive RF</c:v>
                </c:pt>
                <c:pt idx="3">
                  <c:v>HGB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0.885</c:v>
                </c:pt>
                <c:pt idx="1">
                  <c:v>0.8405</c:v>
                </c:pt>
                <c:pt idx="2">
                  <c:v>0.8707</c:v>
                </c:pt>
                <c:pt idx="3">
                  <c:v>0.9813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API Latency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Latency 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Mean</c:v>
                </c:pt>
                <c:pt idx="1">
                  <c:v>P50</c:v>
                </c:pt>
                <c:pt idx="2">
                  <c:v>P95</c:v>
                </c:pt>
                <c:pt idx="3">
                  <c:v>Max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1.86</c:v>
                </c:pt>
                <c:pt idx="2">
                  <c:v>2.49</c:v>
                </c:pt>
                <c:pt idx="3">
                  <c:v>7.84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FFFFFF"/>
                </a:solidFill>
              </a:rPr>
              <a:t>A Real-Time Adaptive Framework
for Detection of Heart Diseases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0632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2E8F0"/>
                </a:solidFill>
              </a:defRPr>
            </a:pPr>
            <a:r>
              <a:t>Ameer Hamza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Reg. No: 2024-MS-DS-109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Supervisor: Prof. Dr. Muhammad Shoaib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Institute of Data Science, UET Lahore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2/16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0749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563EB"/>
                </a:solidFill>
              </a:rPr>
              <a:t>01 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800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Static diagnosis models become outdated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234440"/>
            <a:ext cx="507492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533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6A34A"/>
                </a:solidFill>
              </a:rPr>
              <a:t>02  Literature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800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Recent CVD prediction systems and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0749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563EB"/>
                </a:solidFill>
              </a:rPr>
              <a:t>03  Dataset &amp;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91839"/>
            <a:ext cx="4800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Larger UCI-format dataset with 1025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788920"/>
            <a:ext cx="507492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907791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6A34A"/>
                </a:solidFill>
              </a:rPr>
              <a:t>04  Proposed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91839"/>
            <a:ext cx="4800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Baseline ML + adaptive online learning + drift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507492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6227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563EB"/>
                </a:solidFill>
              </a:rPr>
              <a:t>05  Experimental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800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Larger-dataset model metrics and clinical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343400"/>
            <a:ext cx="507492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46227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6A34A"/>
                </a:solidFill>
              </a:rPr>
              <a:t>06  Conclusion &amp; 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48006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Key findings, limitations,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3/16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Most heart disease prediction systems are static: trained once and reused without learning from new patient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3429000" cy="15087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8775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97316"/>
                </a:solidFill>
              </a:rPr>
              <a:t>Static Model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A model trained on past data may become unreliable when clinical trends, lifestyle patterns, or treatment behavior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68880"/>
            <a:ext cx="3429000" cy="15087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58775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7C3AED"/>
                </a:solidFill>
              </a:rPr>
              <a:t>Concept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971800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The relationship between cholesterol, blood pressure, chest pain and disease risk can shift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468880"/>
            <a:ext cx="3429000" cy="15087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58775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563EB"/>
                </a:solidFill>
              </a:rPr>
              <a:t>Real-Time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71800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Offline studies often lack API/dashboard deployment for instant clinical or telemedicine 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4572000"/>
            <a:ext cx="3840480" cy="1143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469087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DC2626"/>
                </a:solidFill>
              </a:rPr>
              <a:t>Clinical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74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False negatives are critical because a diseased patient may be predicted as low-risk.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72000"/>
            <a:ext cx="3840480" cy="1143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690872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6A34A"/>
                </a:solidFill>
              </a:rPr>
              <a:t>Research 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074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An adaptive, real-time framework that learns continuously and monitors drift.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4/16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19456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2563EB"/>
                </a:solidFill>
              </a:rPr>
              <a:t>1025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84248"/>
            <a:ext cx="20482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Patient records in larger UCI-format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19456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490472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16A34A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984248"/>
            <a:ext cx="20482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Clinical input features used by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325880"/>
            <a:ext cx="219456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90472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F97316"/>
                </a:solidFill>
              </a:rPr>
              <a:t>4.76%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1984248"/>
            <a:ext cx="20482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False-negative rate on larger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325880"/>
            <a:ext cx="219456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490472"/>
            <a:ext cx="21945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7C3AED"/>
                </a:solidFill>
              </a:rPr>
              <a:t>2.10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1984248"/>
            <a:ext cx="20482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Mean API latency in local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971800"/>
            <a:ext cx="3429000" cy="1920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0906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563EB"/>
                </a:solidFill>
              </a:rPr>
              <a:t>Why adaptive learning?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7472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Healthcare data is not fixed. New patients, changed lifestyles, new treatments and population shifts can reduce static model reliability.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971800"/>
            <a:ext cx="3429000" cy="1920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0906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6A34A"/>
                </a:solidFill>
              </a:rPr>
              <a:t>Why real-time serving?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7472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Hospitals and telemedicine platforms require fast predictions with clear system status and confidence-supporting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971800"/>
            <a:ext cx="3429000" cy="19202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30906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97316"/>
                </a:solidFill>
              </a:rPr>
              <a:t>Why clinical error analysis?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47472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In heart disease, missed positive cases matter more than accuracy alone; recall and false-negative rate must be monitored.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Literature Review - Top Related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5/16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4673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Main Limitation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Bilal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Explainable AI +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Offline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Tito et al.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Incremental DL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Manual retraining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Bouqentar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Feature engineering +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Static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Ogunpola et al.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Multiple ML classifiers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No adaptive 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Padhy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Hybrid neural/fuzzy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Batch-based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Al-Mahdi et al.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Optimized ensemble DL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Offline, complex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Praveen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Adaptive boosted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Periodic retraining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Baseline + online + drift +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Prototype validation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23560"/>
            <a:ext cx="10561320" cy="5943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742432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7C3AED"/>
                </a:solidFill>
              </a:rPr>
              <a:t>Identified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126480"/>
            <a:ext cx="102870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Most studies optimize static accuracy; fewer combine online learning, drift monitoring, clinical error analysis, and real-time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Dataset and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6/16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65760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2563EB"/>
                </a:solidFill>
              </a:rPr>
              <a:t>Larger UCI-format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3832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1025 records | 499 no disease | 526 disease present | almost balanced class distribution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0" y="1143000"/>
          <a:ext cx="33832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0" y="1143000"/>
            <a:ext cx="3246120" cy="2377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6187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6A34A"/>
                </a:solidFill>
              </a:rPr>
              <a:t>Canonical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2971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age, sex, chest_pain_type, resting_bp, cholesterol, fasting_blood_sugar, restecg, max_heart_rate, exercise_angina, oldpeak, slope, ca, thal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2070201" cy="74980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7939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Raw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5" name="Right Arrow 14"/>
          <p:cNvSpPr/>
          <p:nvPr/>
        </p:nvSpPr>
        <p:spPr>
          <a:xfrm>
            <a:off x="2554833" y="43891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74289" y="4160520"/>
            <a:ext cx="2070201" cy="74980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1449" y="427939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Column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1449" y="466344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9" name="Right Arrow 18"/>
          <p:cNvSpPr/>
          <p:nvPr/>
        </p:nvSpPr>
        <p:spPr>
          <a:xfrm>
            <a:off x="4826203" y="43891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45659" y="4160520"/>
            <a:ext cx="2070201" cy="749808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2819" y="427939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97316"/>
                </a:solidFill>
              </a:rPr>
              <a:t>Missing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2819" y="466344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3" name="Right Arrow 22"/>
          <p:cNvSpPr/>
          <p:nvPr/>
        </p:nvSpPr>
        <p:spPr>
          <a:xfrm>
            <a:off x="7097572" y="43891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7028" y="4160520"/>
            <a:ext cx="2070201" cy="749808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4188" y="427939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7C3AED"/>
                </a:solidFill>
              </a:rPr>
              <a:t>Binary 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4188" y="466344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7" name="Right Arrow 26"/>
          <p:cNvSpPr/>
          <p:nvPr/>
        </p:nvSpPr>
        <p:spPr>
          <a:xfrm>
            <a:off x="9368942" y="43891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88398" y="4160520"/>
            <a:ext cx="2070201" cy="749808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5558" y="427939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Processed 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5558" y="466344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40680"/>
            <a:ext cx="10698480" cy="56692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559552"/>
            <a:ext cx="10424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64748B"/>
                </a:solidFill>
              </a:rPr>
              <a:t>Code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943600"/>
            <a:ext cx="10424159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Preprocessing implemented in src/heart_disease_rt/data/preprocess.py and schema.py; pipeline runs through scripts/run_data_pipeline.py.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Proposed Methodology - End-to-End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7/16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691639" cy="74980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UCI-format
Patient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8" name="Right Arrow 7"/>
          <p:cNvSpPr/>
          <p:nvPr/>
        </p:nvSpPr>
        <p:spPr>
          <a:xfrm>
            <a:off x="2176272" y="146304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95728" y="1234440"/>
            <a:ext cx="1691639" cy="74980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35331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Preprocessing
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73736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146304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8536" y="1234440"/>
            <a:ext cx="1691639" cy="749808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35331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97316"/>
                </a:solidFill>
              </a:rPr>
              <a:t>Static
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73736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146304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1234440"/>
            <a:ext cx="1691639" cy="749808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35331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7C3AED"/>
                </a:solidFill>
              </a:rPr>
              <a:t>Adaptive
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173736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0" name="Right Arrow 19"/>
          <p:cNvSpPr/>
          <p:nvPr/>
        </p:nvSpPr>
        <p:spPr>
          <a:xfrm>
            <a:off x="7854696" y="146304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4152" y="1234440"/>
            <a:ext cx="1691639" cy="749808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35331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Drift
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173736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4" name="Right Arrow 23"/>
          <p:cNvSpPr/>
          <p:nvPr/>
        </p:nvSpPr>
        <p:spPr>
          <a:xfrm>
            <a:off x="9747504" y="146304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1234440"/>
            <a:ext cx="1691639" cy="749808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35331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38BDF8"/>
                </a:solidFill>
              </a:rPr>
              <a:t>API +
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173736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2834640"/>
            <a:ext cx="3337560" cy="15087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29535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563EB"/>
                </a:solidFill>
              </a:rPr>
              <a:t>Stage 1: Data Preparation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337560"/>
            <a:ext cx="306324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Normalize columns, map UCI aliases, impute missing values, create binary label and ordered feature matrix.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2834640"/>
            <a:ext cx="3337560" cy="1508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29535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6A34A"/>
                </a:solidFill>
              </a:rPr>
              <a:t>Stage 2: Modeling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337560"/>
            <a:ext cx="306324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Train static Logistic Regression/HGB and run adaptive River models in prequential mode.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2834640"/>
            <a:ext cx="3337560" cy="15087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95351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97316"/>
                </a:solidFill>
              </a:rPr>
              <a:t>Stage 3: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337560"/>
            <a:ext cx="306324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Serve predictions through FastAPI and visualize metrics/experiments in Streamlit dashboard.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45920" y="4892040"/>
            <a:ext cx="8869680" cy="6858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83080" y="5010912"/>
            <a:ext cx="8595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7C3AED"/>
                </a:solidFill>
              </a:rPr>
              <a:t>Main contribution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83080" y="5394959"/>
            <a:ext cx="8595359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A practical research-to-production framework that joins static accuracy, continuous learning, drift monitoring and real-time diagnosis.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Static Baseline 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8/16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70201" cy="74980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Input
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8" name="Right Arrow 7"/>
          <p:cNvSpPr/>
          <p:nvPr/>
        </p:nvSpPr>
        <p:spPr>
          <a:xfrm>
            <a:off x="2554833" y="155448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74289" y="1325880"/>
            <a:ext cx="2070201" cy="74980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1449" y="144475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StandardScaler
Numeric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1449" y="182880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2" name="Right Arrow 11"/>
          <p:cNvSpPr/>
          <p:nvPr/>
        </p:nvSpPr>
        <p:spPr>
          <a:xfrm>
            <a:off x="4826203" y="155448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45659" y="1325880"/>
            <a:ext cx="2070201" cy="74980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2819" y="144475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97316"/>
                </a:solidFill>
              </a:rPr>
              <a:t>OneHotEncoder
Categorical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2819" y="182880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6" name="Right Arrow 15"/>
          <p:cNvSpPr/>
          <p:nvPr/>
        </p:nvSpPr>
        <p:spPr>
          <a:xfrm>
            <a:off x="7097572" y="155448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7028" y="1325880"/>
            <a:ext cx="2070201" cy="749808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4188" y="144475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7C3AED"/>
                </a:solidFill>
              </a:rPr>
              <a:t>Logistic Reg.
/ HGB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4188" y="182880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0" name="Right Arrow 19"/>
          <p:cNvSpPr/>
          <p:nvPr/>
        </p:nvSpPr>
        <p:spPr>
          <a:xfrm>
            <a:off x="9368942" y="155448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88398" y="1325880"/>
            <a:ext cx="2070201" cy="749808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5558" y="1444752"/>
            <a:ext cx="179588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Prediction +
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5558" y="1828800"/>
            <a:ext cx="1795881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880360"/>
            <a:ext cx="3383280" cy="1417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9992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563EB"/>
                </a:solidFill>
              </a:rPr>
              <a:t>Logistic Regression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383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Balanced class weights, validation-based threshold tuning and ROC-AUC reporting.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2880360"/>
            <a:ext cx="3383280" cy="1417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9992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6A34A"/>
                </a:solidFill>
              </a:rPr>
              <a:t>HistGradientBoosting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383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Strong batch-learning baseline used for best larger-dataset static result.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880360"/>
            <a:ext cx="3383280" cy="14173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9992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97316"/>
                </a:solidFill>
              </a:rPr>
              <a:t>Saved Artifacts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383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Model stored as joblib; metadata and threshold stored in configs/model_config.json.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960120" y="4846320"/>
          <a:ext cx="102412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Library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Saved 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Metrics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Stratified 80/20 holdout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models/artifacts/baseline.joblib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Accuracy, Precision, Recall, F1, ROC-AUC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Adaptive Learning and Drift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9/16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1691639" cy="74980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Patient
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8" name="Right Arrow 7"/>
          <p:cNvSpPr/>
          <p:nvPr/>
        </p:nvSpPr>
        <p:spPr>
          <a:xfrm>
            <a:off x="2176272" y="132588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95728" y="1097280"/>
            <a:ext cx="1691639" cy="74980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21615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60020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132588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8536" y="1097280"/>
            <a:ext cx="1691639" cy="749808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21615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97316"/>
                </a:solidFill>
              </a:rPr>
              <a:t>Compare
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60020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132588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1097280"/>
            <a:ext cx="1691639" cy="749808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3" y="121615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7C3AED"/>
                </a:solidFill>
              </a:rPr>
              <a:t>Update
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160020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0" name="Right Arrow 19"/>
          <p:cNvSpPr/>
          <p:nvPr/>
        </p:nvSpPr>
        <p:spPr>
          <a:xfrm>
            <a:off x="7854696" y="132588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4152" y="1097280"/>
            <a:ext cx="1691639" cy="749808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21615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Drift
Detector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160020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4" name="Right Arrow 23"/>
          <p:cNvSpPr/>
          <p:nvPr/>
        </p:nvSpPr>
        <p:spPr>
          <a:xfrm>
            <a:off x="9747504" y="132588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1097280"/>
            <a:ext cx="1691639" cy="749808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216152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38BDF8"/>
                </a:solidFill>
              </a:rPr>
              <a:t>Learn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1600200"/>
            <a:ext cx="1417319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">
                <a:solidFill>
                  <a:srgbClr val="0F172A"/>
                </a:solidFill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2651760"/>
            <a:ext cx="3337560" cy="1417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277063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563EB"/>
                </a:solidFill>
              </a:rPr>
              <a:t>Online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15468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River Online Logistic Regression and Adaptive Random Forest process records one at a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2651760"/>
            <a:ext cx="3337560" cy="1417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277063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6A34A"/>
                </a:solidFill>
              </a:rPr>
              <a:t>Prequential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15468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The model predicts first, then learns from the true label, simulating streaming clinical 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2651760"/>
            <a:ext cx="3337560" cy="14173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77063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97316"/>
                </a:solidFill>
              </a:rPr>
              <a:t>Drift Detectors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15468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ADWIN, DDM and Page-Hinkley monitor error signals for distribution changes.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4709160"/>
            <a:ext cx="99212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828032"/>
            <a:ext cx="96469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64748B"/>
                </a:solidFill>
              </a:rPr>
              <a:t>Code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212080"/>
            <a:ext cx="964691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Implemented in src/heart_disease_rt/models/adaptive.py and src/heart_disease_rt/monitoring/drift_scenarios.py.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10/16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43000"/>
          <a:ext cx="50749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</a:tblGrid>
              <a:tr h="49720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Used Tool / Method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Python 3.10+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Data Processing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Pandas, NumPy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Static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Online 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River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Artifacts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CSV, JSON, joblib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143000"/>
          <a:ext cx="50749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</a:tblGrid>
              <a:tr h="49720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run_data_pipeline.py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Preprocess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train_baseline.py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Train static model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run_adaptive_loop.py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Online learning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run_drift_scenarios.py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Synthetic drift test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run_cv_benchmark.py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Cross-validation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run_evaluation.py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Thesis artifacts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run_latency_check.py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API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577840"/>
            <a:ext cx="10332720" cy="5943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69671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7C3AED"/>
                </a:solidFill>
              </a:rPr>
              <a:t>Evaluation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080759"/>
            <a:ext cx="10058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Larger UCI-format dataset results: accuracy, precision, recall, F1, ROC-AUC, false negatives, drift events and API latency.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Experimental Results - Larger UCI-format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11/16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233172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07592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16A34A"/>
                </a:solidFill>
              </a:rPr>
              <a:t>98.05%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2185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Best Accuracy
HistGradientBoosting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143000"/>
            <a:ext cx="233172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07592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2563EB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801368"/>
            <a:ext cx="2185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Recall
HistGradientBoosting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233172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07592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7C3AED"/>
                </a:solidFill>
              </a:rPr>
              <a:t>99.73%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801368"/>
            <a:ext cx="2185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ROC-AUC
HistGradientBoosting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143000"/>
            <a:ext cx="233172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307592"/>
            <a:ext cx="2331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F97316"/>
                </a:solidFill>
              </a:rPr>
              <a:t>4.76%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1801368"/>
            <a:ext cx="21854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False-negative Rate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2880360"/>
          <a:ext cx="11018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420"/>
                <a:gridCol w="1836420"/>
                <a:gridCol w="1836420"/>
                <a:gridCol w="1836420"/>
                <a:gridCol w="1836420"/>
                <a:gridCol w="1836420"/>
              </a:tblGrid>
              <a:tr h="466344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0.8732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0.8264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0.8850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Adaptive Online LR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0.8263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0.8405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Adaptive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0.8673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0.8707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0.9805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0.9633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0.9813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0.9973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914400" y="5715000"/>
            <a:ext cx="10332720" cy="53035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83387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6217920"/>
            <a:ext cx="10058400" cy="-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Static HGB performs best on stable data; Adaptive Random Forest remains close to Logistic Regression while adding continuous learning capability.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12/16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143000"/>
          <a:ext cx="6400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43800" y="1325880"/>
            <a:ext cx="3886200" cy="1143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444752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6A34A"/>
                </a:solidFill>
              </a:rPr>
              <a:t>Best Static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HistGradientBoosting achieved 0.9805 accuracy and 0.9813 F1-score.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788920"/>
            <a:ext cx="3886200" cy="11430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907791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7C3AED"/>
                </a:solidFill>
              </a:rPr>
              <a:t>Best Adaptive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291839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Adaptive Random Forest achieved 0.8673 accuracy and 0.8707 F1-score.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251960"/>
            <a:ext cx="3886200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370832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97316"/>
                </a:solidFill>
              </a:rPr>
              <a:t>Research 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754880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Adaptive model is slightly lower in static evaluation but supports online learning from new patient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Clinical Error and Real-Time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13/16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88720"/>
            <a:ext cx="228600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2286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DC2626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21396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False Negatives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188720"/>
            <a:ext cx="228600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53312"/>
            <a:ext cx="2286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16A34A"/>
                </a:solidFill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847088"/>
            <a:ext cx="21396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True Positives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228600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53312"/>
            <a:ext cx="2286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F97316"/>
                </a:solidFill>
              </a:rPr>
              <a:t>4.76%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1847088"/>
            <a:ext cx="21396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False-negative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188720"/>
            <a:ext cx="2286000" cy="1143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353312"/>
            <a:ext cx="2286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7C3AED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1847088"/>
            <a:ext cx="21396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Drift Events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914400" y="2880360"/>
          <a:ext cx="48463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63640" y="2926080"/>
            <a:ext cx="4754880" cy="9601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04495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97316"/>
                </a:solidFill>
              </a:rPr>
              <a:t>Clinical 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Low false-negative rate is important because missed heart disease cases may delay treatment.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60520"/>
            <a:ext cx="475488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7939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563EB"/>
                </a:solidFill>
              </a:rPr>
              <a:t>Real-time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Mean API latency around 2.10 ms supports prototype-level real-time prediction.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394960"/>
            <a:ext cx="4754880" cy="64008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51383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7C3AED"/>
                </a:solidFill>
              </a:rPr>
              <a:t>Drift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97880"/>
            <a:ext cx="448056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No drift events were detected in the larger-dataset run; detector tuning remains future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Comparative Analysis and Key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14/16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3429000" cy="15087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563EB"/>
                </a:solidFill>
              </a:rPr>
              <a:t>Compared with Static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Many related studies focus on offline accuracy only. This framework adds adaptive learning and real-time serving.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43000"/>
            <a:ext cx="3429000" cy="15087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2618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6A34A"/>
                </a:solidFill>
              </a:rPr>
              <a:t>Static vs Adaptive Trade-off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HGB gives highest stable-data accuracy; ARF gives continuous learning with competitive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43000"/>
            <a:ext cx="3429000" cy="15087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6187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97316"/>
                </a:solidFill>
              </a:rPr>
              <a:t>Concept Drift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15468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Drift monitoring is implemented, but no strong drift was detected in current larger-dataset evaluation.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Best result: HistGradientBoosting achieved 98.05% accuracy and 99.73% ROC-AUC.</a:t>
            </a:r>
          </a:p>
          <a:p>
            <a:pPr marL="285750" indent="-171450"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Adaptive Random Forest narrowed the gap to static Logistic Regression while keeping online update capability.</a:t>
            </a:r>
          </a:p>
          <a:p>
            <a:pPr marL="285750" indent="-171450"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Clinical usefulness is supported by 4.76% false-negative rate, but medical deployment requires larger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57800"/>
            <a:ext cx="10332720" cy="77724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37667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7C3AED"/>
                </a:solidFill>
              </a:rPr>
              <a:t>Main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760720"/>
            <a:ext cx="100584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F172A"/>
                </a:solidFill>
              </a:rPr>
              <a:t>The contribution is not only high accuracy; it is an integrated framework for adaptive, explainable and real-time heart disease prediction.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15/16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97280"/>
            <a:ext cx="2148840" cy="1097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2148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16A34A"/>
                </a:solidFill>
              </a:rPr>
              <a:t>98.05%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55648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Best static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97280"/>
            <a:ext cx="2148840" cy="1097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261872"/>
            <a:ext cx="2148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7C3AED"/>
                </a:solidFill>
              </a:rPr>
              <a:t>86.73%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755648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Best adaptive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097280"/>
            <a:ext cx="2148840" cy="1097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261872"/>
            <a:ext cx="2148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F97316"/>
                </a:solidFill>
              </a:rPr>
              <a:t>4.76%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1755648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False-negative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97280"/>
            <a:ext cx="2148840" cy="10972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261872"/>
            <a:ext cx="2148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400">
                <a:solidFill>
                  <a:srgbClr val="2563EB"/>
                </a:solidFill>
              </a:rPr>
              <a:t>2.10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755648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0F172A"/>
                </a:solidFill>
              </a:rPr>
              <a:t>Mean API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743200"/>
            <a:ext cx="10607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1450"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The proposed system successfully implements a real-time adaptive framework for heart disease detection.</a:t>
            </a:r>
          </a:p>
          <a:p>
            <a:pPr marL="285750" indent="-171450"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Static models provide strong performance under stable data conditions.</a:t>
            </a:r>
          </a:p>
          <a:p>
            <a:pPr marL="285750" indent="-171450"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Adaptive models provide continuous learning for future changing patient data.</a:t>
            </a:r>
          </a:p>
          <a:p>
            <a:pPr marL="285750" indent="-171450"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FastAPI and Streamlit demonstrate practical prototype deployment.</a:t>
            </a:r>
          </a:p>
          <a:p>
            <a:pPr marL="285750" indent="-171450"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Clinical error analysis confirms the importance of false-negative monitoring.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623560"/>
            <a:ext cx="10104120" cy="566928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742432"/>
            <a:ext cx="9829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Conclusion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6126480"/>
            <a:ext cx="9829800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The thesis objectives are achieved at prototype/research level, with clear pathways for clinical-grade 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84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87552"/>
            <a:ext cx="113842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A Real-Time Adaptive Framework for Detection of Heart Diseases | Ameer Hamza | 16/16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166360" cy="1051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70431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01  Larger Clinical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892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F172A"/>
                </a:solidFill>
              </a:rPr>
              <a:t>Evaluate on real hospital datasets with diverse populations and missing/noisy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166360" cy="1051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70431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02  Adaptive Model 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92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F172A"/>
                </a:solidFill>
              </a:rPr>
              <a:t>Explore stronger online ensembles and hybrid batch-online update strategies.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68880"/>
            <a:ext cx="5166360" cy="1051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8775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03  Drift Detection Sensitivity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4892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F172A"/>
                </a:solidFill>
              </a:rPr>
              <a:t>Tune ADWIN, DDM and Page-Hinkley using real long-term patient streams.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68880"/>
            <a:ext cx="5166360" cy="1051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8775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04  Reduce False Negatives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4892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F172A"/>
                </a:solidFill>
              </a:rPr>
              <a:t>Apply cost-sensitive learning and threshold optimization for higher recall.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5166360" cy="1051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050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05  Clinical 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4892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F172A"/>
                </a:solidFill>
              </a:rPr>
              <a:t>Add SHAP-style patient-level explanations for doctor trust.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886200"/>
            <a:ext cx="5166360" cy="1051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050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16A34A"/>
                </a:solidFill>
              </a:rPr>
              <a:t>06  Production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48920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0F172A"/>
                </a:solidFill>
              </a:rPr>
              <a:t>Test concurrency, privacy, security, database integration and wearable/telemedicine support.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rgbClr val="0F172A"/>
                </a:solidFill>
              </a:rP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